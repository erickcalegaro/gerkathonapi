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</p:sldMasterIdLst>
  <p:notesMasterIdLst>
    <p:notesMasterId r:id="rId22"/>
  </p:notesMasterIdLst>
  <p:sldIdLst>
    <p:sldId id="262" r:id="rId8"/>
    <p:sldId id="263" r:id="rId9"/>
    <p:sldId id="278" r:id="rId10"/>
    <p:sldId id="286" r:id="rId11"/>
    <p:sldId id="287" r:id="rId12"/>
    <p:sldId id="288" r:id="rId13"/>
    <p:sldId id="289" r:id="rId14"/>
    <p:sldId id="290" r:id="rId15"/>
    <p:sldId id="279" r:id="rId16"/>
    <p:sldId id="282" r:id="rId17"/>
    <p:sldId id="292" r:id="rId18"/>
    <p:sldId id="281" r:id="rId19"/>
    <p:sldId id="293" r:id="rId20"/>
    <p:sldId id="256" r:id="rId21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 SAO" initials="TS" lastIdx="1" clrIdx="0">
    <p:extLst>
      <p:ext uri="{19B8F6BF-5375-455C-9EA6-DF929625EA0E}">
        <p15:presenceInfo xmlns:p15="http://schemas.microsoft.com/office/powerpoint/2012/main" userId="52261bf721bb72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0B"/>
    <a:srgbClr val="FCFCFC"/>
    <a:srgbClr val="262626"/>
    <a:srgbClr val="F8FAF8"/>
    <a:srgbClr val="F9F9F9"/>
    <a:srgbClr val="FBFEFD"/>
    <a:srgbClr val="FFFFFF"/>
    <a:srgbClr val="F5F5F5"/>
    <a:srgbClr val="CBC5B9"/>
    <a:srgbClr val="2C3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45" autoAdjust="0"/>
    <p:restoredTop sz="94631" autoAdjust="0"/>
  </p:normalViewPr>
  <p:slideViewPr>
    <p:cSldViewPr snapToGrid="0">
      <p:cViewPr varScale="1">
        <p:scale>
          <a:sx n="61" d="100"/>
          <a:sy n="61" d="100"/>
        </p:scale>
        <p:origin x="13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A46B4-2287-4CD0-BDEF-081D8401AA01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84622-A265-493E-9771-6A7BB9D67F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956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84622-A265-493E-9771-6A7BB9D67FD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241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84622-A265-493E-9771-6A7BB9D67FD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03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26">
            <a:extLst>
              <a:ext uri="{FF2B5EF4-FFF2-40B4-BE49-F238E27FC236}">
                <a16:creationId xmlns:a16="http://schemas.microsoft.com/office/drawing/2014/main" id="{F24B0BC1-5B07-7506-7C8E-EF6F70AE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367" y="2590800"/>
            <a:ext cx="7703133" cy="119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376242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ítulo 16">
            <a:extLst>
              <a:ext uri="{FF2B5EF4-FFF2-40B4-BE49-F238E27FC236}">
                <a16:creationId xmlns:a16="http://schemas.microsoft.com/office/drawing/2014/main" id="{67382F4C-4D1F-72F4-B426-9839AAAE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056"/>
            <a:ext cx="2476500" cy="423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10" name="Espaço Reservado para Texto 18">
            <a:extLst>
              <a:ext uri="{FF2B5EF4-FFF2-40B4-BE49-F238E27FC236}">
                <a16:creationId xmlns:a16="http://schemas.microsoft.com/office/drawing/2014/main" id="{1F741959-B140-468D-8547-288EB0E78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5318" cy="355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D3D091-9366-D23B-4824-CA8F5C95CB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69000" y="1252538"/>
            <a:ext cx="5878513" cy="474345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Espaço reservado pra imagem</a:t>
            </a:r>
          </a:p>
        </p:txBody>
      </p:sp>
    </p:spTree>
    <p:extLst>
      <p:ext uri="{BB962C8B-B14F-4D97-AF65-F5344CB8AC3E}">
        <p14:creationId xmlns:p14="http://schemas.microsoft.com/office/powerpoint/2010/main" val="41846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ítulo 19">
            <a:extLst>
              <a:ext uri="{FF2B5EF4-FFF2-40B4-BE49-F238E27FC236}">
                <a16:creationId xmlns:a16="http://schemas.microsoft.com/office/drawing/2014/main" id="{58B8C8DC-A058-860D-26A0-D86A42A1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06" y="804432"/>
            <a:ext cx="2671215" cy="438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9" name="Espaço Reservado para Texto 21">
            <a:extLst>
              <a:ext uri="{FF2B5EF4-FFF2-40B4-BE49-F238E27FC236}">
                <a16:creationId xmlns:a16="http://schemas.microsoft.com/office/drawing/2014/main" id="{F9C18E8D-1F52-32E1-57FA-8E0B5F6D0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70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059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ítulo 16">
            <a:extLst>
              <a:ext uri="{FF2B5EF4-FFF2-40B4-BE49-F238E27FC236}">
                <a16:creationId xmlns:a16="http://schemas.microsoft.com/office/drawing/2014/main" id="{24D5D757-15F8-D402-7EB9-F4B30655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7414"/>
            <a:ext cx="2501021" cy="438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9" name="Espaço Reservado para Texto 18">
            <a:extLst>
              <a:ext uri="{FF2B5EF4-FFF2-40B4-BE49-F238E27FC236}">
                <a16:creationId xmlns:a16="http://schemas.microsoft.com/office/drawing/2014/main" id="{8FD7FA52-A84B-D8E2-983E-A2365EB8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7100" cy="344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0DCA4A3B-5C6B-5AB4-FDA9-170FAF0541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96025" y="1236663"/>
            <a:ext cx="5591175" cy="486410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Espaço reservado para imagem </a:t>
            </a:r>
          </a:p>
        </p:txBody>
      </p:sp>
    </p:spTree>
    <p:extLst>
      <p:ext uri="{BB962C8B-B14F-4D97-AF65-F5344CB8AC3E}">
        <p14:creationId xmlns:p14="http://schemas.microsoft.com/office/powerpoint/2010/main" val="273405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ítulo 18">
            <a:extLst>
              <a:ext uri="{FF2B5EF4-FFF2-40B4-BE49-F238E27FC236}">
                <a16:creationId xmlns:a16="http://schemas.microsoft.com/office/drawing/2014/main" id="{061B44BA-12FE-FA77-44AA-EA65B75F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206" y="1501567"/>
            <a:ext cx="2704011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9" name="Espaço Reservado para Texto 20">
            <a:extLst>
              <a:ext uri="{FF2B5EF4-FFF2-40B4-BE49-F238E27FC236}">
                <a16:creationId xmlns:a16="http://schemas.microsoft.com/office/drawing/2014/main" id="{F5411888-76D0-BCA6-1886-6CCF5AE18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06" y="2298700"/>
            <a:ext cx="10687594" cy="3057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8350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ítulo 15">
            <a:extLst>
              <a:ext uri="{FF2B5EF4-FFF2-40B4-BE49-F238E27FC236}">
                <a16:creationId xmlns:a16="http://schemas.microsoft.com/office/drawing/2014/main" id="{6CDF2F59-1D9A-7E76-E032-2F2BF2D8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558" y="1501567"/>
            <a:ext cx="2423905" cy="409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9" name="Espaço Reservado para Texto 17">
            <a:extLst>
              <a:ext uri="{FF2B5EF4-FFF2-40B4-BE49-F238E27FC236}">
                <a16:creationId xmlns:a16="http://schemas.microsoft.com/office/drawing/2014/main" id="{B79D75B3-EC83-4B52-DF98-70B0C8510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699"/>
            <a:ext cx="4775200" cy="340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CFFE045-99BD-4F5C-1135-E50271B193F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39133" y="849313"/>
            <a:ext cx="4775200" cy="549910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Espaço reservado para imagem </a:t>
            </a:r>
          </a:p>
        </p:txBody>
      </p:sp>
    </p:spTree>
    <p:extLst>
      <p:ext uri="{BB962C8B-B14F-4D97-AF65-F5344CB8AC3E}">
        <p14:creationId xmlns:p14="http://schemas.microsoft.com/office/powerpoint/2010/main" val="383896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ítulo 13">
            <a:extLst>
              <a:ext uri="{FF2B5EF4-FFF2-40B4-BE49-F238E27FC236}">
                <a16:creationId xmlns:a16="http://schemas.microsoft.com/office/drawing/2014/main" id="{BAEF75B3-A8B2-0C32-8A8E-A794C1F9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305" y="4165666"/>
            <a:ext cx="68873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0881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emf"/><Relationship Id="rId4" Type="http://schemas.openxmlformats.org/officeDocument/2006/relationships/image" Target="../media/image8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emf"/><Relationship Id="rId4" Type="http://schemas.openxmlformats.org/officeDocument/2006/relationships/image" Target="../media/image8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6">
            <a:extLst>
              <a:ext uri="{FF2B5EF4-FFF2-40B4-BE49-F238E27FC236}">
                <a16:creationId xmlns:a16="http://schemas.microsoft.com/office/drawing/2014/main" id="{0E49C20E-C415-2E3C-F5CD-9C3971B1D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262" r="4393"/>
          <a:stretch/>
        </p:blipFill>
        <p:spPr>
          <a:xfrm>
            <a:off x="0" y="-195062"/>
            <a:ext cx="12192000" cy="7053062"/>
          </a:xfrm>
          <a:prstGeom prst="rect">
            <a:avLst/>
          </a:prstGeom>
        </p:spPr>
      </p:pic>
      <p:pic>
        <p:nvPicPr>
          <p:cNvPr id="34" name="Picture 9">
            <a:extLst>
              <a:ext uri="{FF2B5EF4-FFF2-40B4-BE49-F238E27FC236}">
                <a16:creationId xmlns:a16="http://schemas.microsoft.com/office/drawing/2014/main" id="{45C75CC5-5F6E-3A9A-9623-095EA6A721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537" y="994891"/>
            <a:ext cx="2410425" cy="917849"/>
          </a:xfrm>
          <a:prstGeom prst="rect">
            <a:avLst/>
          </a:prstGeom>
        </p:spPr>
      </p:pic>
      <p:pic>
        <p:nvPicPr>
          <p:cNvPr id="35" name="Picture 11">
            <a:extLst>
              <a:ext uri="{FF2B5EF4-FFF2-40B4-BE49-F238E27FC236}">
                <a16:creationId xmlns:a16="http://schemas.microsoft.com/office/drawing/2014/main" id="{37805D19-59B0-8593-FD9D-85BC04A63A9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3805" y="5758270"/>
            <a:ext cx="3387810" cy="403522"/>
          </a:xfrm>
          <a:prstGeom prst="rect">
            <a:avLst/>
          </a:prstGeom>
        </p:spPr>
      </p:pic>
      <p:sp>
        <p:nvSpPr>
          <p:cNvPr id="37" name="Espaço Reservado para Título 36">
            <a:extLst>
              <a:ext uri="{FF2B5EF4-FFF2-40B4-BE49-F238E27FC236}">
                <a16:creationId xmlns:a16="http://schemas.microsoft.com/office/drawing/2014/main" id="{13092A61-8B27-7E88-880D-FED761A0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1247"/>
            <a:ext cx="10515600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156234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Outfi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BF07CC77-264C-0CBF-E54F-1E79B3C7C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740" r="2560"/>
          <a:stretch/>
        </p:blipFill>
        <p:spPr>
          <a:xfrm>
            <a:off x="0" y="0"/>
            <a:ext cx="12343511" cy="6858000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BF284CD1-737C-A30B-40DD-31499E538A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81767" y="490655"/>
            <a:ext cx="631899" cy="245215"/>
          </a:xfrm>
          <a:prstGeom prst="rect">
            <a:avLst/>
          </a:prstGeom>
        </p:spPr>
      </p:pic>
      <p:pic>
        <p:nvPicPr>
          <p:cNvPr id="15" name="Picture 13">
            <a:extLst>
              <a:ext uri="{FF2B5EF4-FFF2-40B4-BE49-F238E27FC236}">
                <a16:creationId xmlns:a16="http://schemas.microsoft.com/office/drawing/2014/main" id="{F8FBD93B-EF41-57DB-E2DF-B0AF3D893FF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900" y="5897750"/>
            <a:ext cx="850900" cy="190500"/>
          </a:xfrm>
          <a:prstGeom prst="rect">
            <a:avLst/>
          </a:prstGeom>
        </p:spPr>
      </p:pic>
      <p:sp>
        <p:nvSpPr>
          <p:cNvPr id="17" name="Espaço Reservado para Título 16">
            <a:extLst>
              <a:ext uri="{FF2B5EF4-FFF2-40B4-BE49-F238E27FC236}">
                <a16:creationId xmlns:a16="http://schemas.microsoft.com/office/drawing/2014/main" id="{7989359E-BD13-96FD-08DE-835955E1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056"/>
            <a:ext cx="2476500" cy="423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EC7A4C38-FAC2-FC01-909A-AE991578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785318" cy="355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9045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Outfi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0E20B7D3-E938-DC98-B5D4-B6340AC4D8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81767" y="490655"/>
            <a:ext cx="631899" cy="245215"/>
          </a:xfrm>
          <a:prstGeom prst="rect">
            <a:avLst/>
          </a:prstGeom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03AC5B3C-76CC-E8DB-6C75-20FE2209B7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900" y="5897750"/>
            <a:ext cx="850900" cy="190500"/>
          </a:xfrm>
          <a:prstGeom prst="rect">
            <a:avLst/>
          </a:prstGeom>
        </p:spPr>
      </p:pic>
      <p:sp>
        <p:nvSpPr>
          <p:cNvPr id="20" name="Espaço Reservado para Título 19">
            <a:extLst>
              <a:ext uri="{FF2B5EF4-FFF2-40B4-BE49-F238E27FC236}">
                <a16:creationId xmlns:a16="http://schemas.microsoft.com/office/drawing/2014/main" id="{A3BC69A3-EB28-E1D8-CDF4-A71ECFB0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06" y="804432"/>
            <a:ext cx="2671215" cy="438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7AD586E6-B7A7-9D35-FC4E-D725ADFC6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470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0896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Outfi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76F70843-92A5-13CF-1A12-5C2705BBF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740" r="2560"/>
          <a:stretch/>
        </p:blipFill>
        <p:spPr>
          <a:xfrm>
            <a:off x="-54365" y="1"/>
            <a:ext cx="12343511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8A4326B-A745-9914-610B-8A9F5D9D8299}"/>
              </a:ext>
            </a:extLst>
          </p:cNvPr>
          <p:cNvSpPr txBox="1">
            <a:spLocks/>
          </p:cNvSpPr>
          <p:nvPr userDrawn="1"/>
        </p:nvSpPr>
        <p:spPr>
          <a:xfrm>
            <a:off x="893805" y="2625833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cap="all">
                <a:solidFill>
                  <a:schemeClr val="bg1"/>
                </a:solidFill>
                <a:latin typeface=""/>
              </a:rPr>
              <a:t>Lorem ipsum dolorts</a:t>
            </a:r>
            <a:endParaRPr lang="en-BR" sz="3600" b="1" cap="all" dirty="0">
              <a:solidFill>
                <a:schemeClr val="bg1"/>
              </a:solidFill>
              <a:latin typeface="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52BF7D5-7C35-F826-2E0B-CDAE22283B5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81767" y="490655"/>
            <a:ext cx="631899" cy="245215"/>
          </a:xfrm>
          <a:prstGeom prst="rect">
            <a:avLst/>
          </a:prstGeom>
        </p:spPr>
      </p:pic>
      <p:pic>
        <p:nvPicPr>
          <p:cNvPr id="11" name="Picture 13">
            <a:extLst>
              <a:ext uri="{FF2B5EF4-FFF2-40B4-BE49-F238E27FC236}">
                <a16:creationId xmlns:a16="http://schemas.microsoft.com/office/drawing/2014/main" id="{EC9F07D9-5B9B-41FD-8150-94AAD7517C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900" y="5897750"/>
            <a:ext cx="850900" cy="190500"/>
          </a:xfrm>
          <a:prstGeom prst="rect">
            <a:avLst/>
          </a:prstGeom>
        </p:spPr>
      </p:pic>
      <p:sp>
        <p:nvSpPr>
          <p:cNvPr id="17" name="Espaço Reservado para Título 16">
            <a:extLst>
              <a:ext uri="{FF2B5EF4-FFF2-40B4-BE49-F238E27FC236}">
                <a16:creationId xmlns:a16="http://schemas.microsoft.com/office/drawing/2014/main" id="{A8A558DF-2705-1F13-75BC-851FEEE39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7414"/>
            <a:ext cx="2501021" cy="438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EA412984-4710-3F30-7691-CBC623974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737100" cy="344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7964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Outfi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5460709D-7F61-E436-62F2-2BE360E70F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24" r="-15199"/>
          <a:stretch/>
        </p:blipFill>
        <p:spPr>
          <a:xfrm>
            <a:off x="-1" y="0"/>
            <a:ext cx="14114749" cy="6858000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397C3B81-8487-E88B-CB1D-A68497316C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900" y="692796"/>
            <a:ext cx="850900" cy="330200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14E6B943-DE38-8257-B6DA-7481C05C35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900" y="5897750"/>
            <a:ext cx="850900" cy="190500"/>
          </a:xfrm>
          <a:prstGeom prst="rect">
            <a:avLst/>
          </a:prstGeom>
        </p:spPr>
      </p:pic>
      <p:sp>
        <p:nvSpPr>
          <p:cNvPr id="19" name="Espaço Reservado para Título 18">
            <a:extLst>
              <a:ext uri="{FF2B5EF4-FFF2-40B4-BE49-F238E27FC236}">
                <a16:creationId xmlns:a16="http://schemas.microsoft.com/office/drawing/2014/main" id="{6EFA08E1-1B4C-CBA9-2D87-79FE0FB9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206" y="1501567"/>
            <a:ext cx="2704011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2F49EC4A-7EE4-EEB4-3475-8C9DA6821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06" y="2298700"/>
            <a:ext cx="10687594" cy="3057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6875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Outfi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CAF790B8-C8EE-1D02-B5A8-10F564568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262" r="4393"/>
          <a:stretch/>
        </p:blipFill>
        <p:spPr>
          <a:xfrm>
            <a:off x="0" y="-195062"/>
            <a:ext cx="12192000" cy="7053062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4AD44AFC-1670-25D8-BB76-16299B1CEE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900" y="692796"/>
            <a:ext cx="850900" cy="330200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8850CD23-413E-1768-4384-D19E9F11A1C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900" y="5897750"/>
            <a:ext cx="850900" cy="190500"/>
          </a:xfrm>
          <a:prstGeom prst="rect">
            <a:avLst/>
          </a:prstGeom>
        </p:spPr>
      </p:pic>
      <p:sp>
        <p:nvSpPr>
          <p:cNvPr id="16" name="Espaço Reservado para Título 15">
            <a:extLst>
              <a:ext uri="{FF2B5EF4-FFF2-40B4-BE49-F238E27FC236}">
                <a16:creationId xmlns:a16="http://schemas.microsoft.com/office/drawing/2014/main" id="{C7A888DE-3BE0-B455-5BF3-C2B547D50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558" y="1501567"/>
            <a:ext cx="2423905" cy="409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</a:t>
            </a:r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8A80682A-53E2-86E2-776B-0C2202AE2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98699"/>
            <a:ext cx="4775200" cy="340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5333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Outfi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>
            <a:extLst>
              <a:ext uri="{FF2B5EF4-FFF2-40B4-BE49-F238E27FC236}">
                <a16:creationId xmlns:a16="http://schemas.microsoft.com/office/drawing/2014/main" id="{BF336CD8-16D4-37B2-3D23-45AAB1E6DB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24" r="-15199"/>
          <a:stretch/>
        </p:blipFill>
        <p:spPr>
          <a:xfrm>
            <a:off x="-1" y="0"/>
            <a:ext cx="14114749" cy="6858000"/>
          </a:xfrm>
          <a:prstGeom prst="rect">
            <a:avLst/>
          </a:prstGeom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9AD58BAF-8FDE-EBD5-3C59-8B3CAD938B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02836" y="1941002"/>
            <a:ext cx="4045970" cy="1540637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64D65244-7746-CE6C-D834-EBBF14BB44C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36073" y="6175256"/>
            <a:ext cx="2321300" cy="276490"/>
          </a:xfrm>
          <a:prstGeom prst="rect">
            <a:avLst/>
          </a:prstGeom>
        </p:spPr>
      </p:pic>
      <p:sp>
        <p:nvSpPr>
          <p:cNvPr id="14" name="Espaço Reservado para Título 13">
            <a:extLst>
              <a:ext uri="{FF2B5EF4-FFF2-40B4-BE49-F238E27FC236}">
                <a16:creationId xmlns:a16="http://schemas.microsoft.com/office/drawing/2014/main" id="{DDF44EC1-00BE-7820-EAB5-1231A529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305" y="4165666"/>
            <a:ext cx="68873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4609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Outfi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nexus.gertecti.com.br:3000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C6AA8-DE37-B44B-9420-81DE58D9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393" y="3224980"/>
            <a:ext cx="7703133" cy="1193447"/>
          </a:xfrm>
        </p:spPr>
        <p:txBody>
          <a:bodyPr/>
          <a:lstStyle/>
          <a:p>
            <a:r>
              <a:rPr lang="pt-BR" b="1" dirty="0" err="1"/>
              <a:t>ArgoEnergy</a:t>
            </a:r>
            <a:endParaRPr lang="pt-BR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1704C4-78F0-FFBC-209B-5383C6141D1A}"/>
              </a:ext>
            </a:extLst>
          </p:cNvPr>
          <p:cNvSpPr txBox="1"/>
          <p:nvPr/>
        </p:nvSpPr>
        <p:spPr>
          <a:xfrm>
            <a:off x="760393" y="4049095"/>
            <a:ext cx="6098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Plataforma de Inteligência Energética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7D0E3C-334F-C0D1-2903-363CD18C7ADD}"/>
              </a:ext>
            </a:extLst>
          </p:cNvPr>
          <p:cNvSpPr/>
          <p:nvPr/>
        </p:nvSpPr>
        <p:spPr>
          <a:xfrm>
            <a:off x="7649425" y="2518348"/>
            <a:ext cx="3638167" cy="3749102"/>
          </a:xfrm>
          <a:prstGeom prst="ellipse">
            <a:avLst/>
          </a:prstGeom>
          <a:solidFill>
            <a:srgbClr val="FCFCFC"/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8B9E65F-47EA-E229-76B4-C72C11600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423" y="3230731"/>
            <a:ext cx="2268169" cy="197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9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0B72-791C-A9F6-B1DF-D973ADDD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D8906-A225-87BE-8AA6-81643EDB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17" y="1516704"/>
            <a:ext cx="3485316" cy="40835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O que nos motivou a criar isso?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67B293-667A-FC5A-E3D3-23DC89D9197D}"/>
              </a:ext>
            </a:extLst>
          </p:cNvPr>
          <p:cNvSpPr/>
          <p:nvPr/>
        </p:nvSpPr>
        <p:spPr>
          <a:xfrm>
            <a:off x="528899" y="1486429"/>
            <a:ext cx="378142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B65FD3-16E9-C345-8167-E1E5870D4BF3}"/>
              </a:ext>
            </a:extLst>
          </p:cNvPr>
          <p:cNvSpPr txBox="1"/>
          <p:nvPr/>
        </p:nvSpPr>
        <p:spPr>
          <a:xfrm>
            <a:off x="528899" y="2094593"/>
            <a:ext cx="59957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IDR elevado gera crise operacional e pressão comercial.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Monitoramento atual é reativo (cliente mede primeiro).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Análise técnica manual via Battery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Historian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 visibilidade contínua da base instalada.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Somente descobrimos o problema após sair do EVT.</a:t>
            </a:r>
          </a:p>
          <a:p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Hoje, levamos dias para descobrir o software ofensor de bateria.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8E40024-EFF0-C3AB-9A80-A1148D9E5B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73016" y="1486429"/>
            <a:ext cx="4232926" cy="4232926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0315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3F12-D8F7-63EC-36AA-03EAE63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2E09B-80D1-CEC2-5A61-3962A562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16" y="1516704"/>
            <a:ext cx="3630857" cy="40835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O que estamos construindo?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D380CED-AF9B-F5B7-A741-026CA5FCEB7E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BB627D-FD77-7BE3-3758-E701C2919658}"/>
              </a:ext>
            </a:extLst>
          </p:cNvPr>
          <p:cNvSpPr txBox="1"/>
          <p:nvPr/>
        </p:nvSpPr>
        <p:spPr>
          <a:xfrm>
            <a:off x="528899" y="2100661"/>
            <a:ext cx="55671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Serviço Android coleta dados energéticos via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dumpsys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batterystats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converte logs em JSON estruturado.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Envio para fila de processamento (S3 + SQS + ECS).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Dashboard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Grafana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 visão operacional e gerencial.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Coleta de dados em tempo real que permite alertas inteligentes, Energy Score e IDR Risk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Predictor</a:t>
            </a: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Transforma dados técnicos complexos em decisões estratégicas e prevenção de crises.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02907C-8F97-8A06-674A-25C5E8A28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73016" y="1486429"/>
            <a:ext cx="4232926" cy="4232926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187868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41B2-4869-CA66-4CB7-58C98D0D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7AA159B-673B-178D-1097-D83A084F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65617" y="618065"/>
            <a:ext cx="3947410" cy="3947410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50CAB0-2752-1F72-6C4B-3D2338382E5B}"/>
              </a:ext>
            </a:extLst>
          </p:cNvPr>
          <p:cNvSpPr txBox="1"/>
          <p:nvPr/>
        </p:nvSpPr>
        <p:spPr>
          <a:xfrm>
            <a:off x="528899" y="2174224"/>
            <a:ext cx="5567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para coleta de dados 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3A517E4-5D34-F461-0729-EEB415E39548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O que será entregue?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8C31657-8671-C3DF-3DFA-67ACB079BBDA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95065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EB79-F421-7067-0C55-BBAB22C0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C09CB2F-07D6-0490-9EF3-51E16E05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65617" y="618065"/>
            <a:ext cx="3947410" cy="3947410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3D237C-E903-5508-64DB-302DDD179F0A}"/>
              </a:ext>
            </a:extLst>
          </p:cNvPr>
          <p:cNvSpPr txBox="1"/>
          <p:nvPr/>
        </p:nvSpPr>
        <p:spPr>
          <a:xfrm>
            <a:off x="528899" y="2174224"/>
            <a:ext cx="5567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para coleta de dados 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publica para envio da telemetria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B48B1A7-F4CA-80E9-DD9F-396BCE4FB9A3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O que será entregue?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468DAE6-EF9B-2C8E-D17F-1E55E9C4133D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742396E-839B-8C24-9147-3AB361A4C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2016" y="1034247"/>
            <a:ext cx="4445336" cy="3815153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271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1F19-CAB5-60F8-5501-BCDE02E9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57A8E50-C0F0-1968-DDD8-5A2FE28E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65617" y="618065"/>
            <a:ext cx="3947410" cy="3947410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4E8A90-A35E-8151-22EA-F7CB60851EFC}"/>
              </a:ext>
            </a:extLst>
          </p:cNvPr>
          <p:cNvSpPr txBox="1"/>
          <p:nvPr/>
        </p:nvSpPr>
        <p:spPr>
          <a:xfrm>
            <a:off x="528899" y="2174224"/>
            <a:ext cx="55671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para coleta de dados 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publica para envio da telemetria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Dashboard técnico com todos os ofensores detalhados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1560DE0A-2A8A-47C0-F1B0-5743711B941A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O que será entregue?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CDDCF9A-168E-75DB-90FF-0B4EE49A52CA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4749E4B-85DD-3DAB-A7E1-7F6913C5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2016" y="1034247"/>
            <a:ext cx="4445336" cy="3815153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20FEACC-5B5D-CDF3-0F10-A007DB4B05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64391" y="1498897"/>
            <a:ext cx="4560625" cy="3814648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812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FCB0-AA5C-1923-1A91-51D58020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FF95707F-9A7A-F062-70DA-1E50B3E8E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65617" y="618065"/>
            <a:ext cx="3947410" cy="3947410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16145BC-7CFA-BD5A-80F6-23B948F1E575}"/>
              </a:ext>
            </a:extLst>
          </p:cNvPr>
          <p:cNvSpPr txBox="1"/>
          <p:nvPr/>
        </p:nvSpPr>
        <p:spPr>
          <a:xfrm>
            <a:off x="528899" y="2174224"/>
            <a:ext cx="55671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para coleta de dados 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publica para envio da telemetria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Dashboard técnico com todos os ofensores detalhados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 Web de nível executivo com comparativos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5131F5F-84D5-0432-88FD-7497CC7BE057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O que será entregue?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C4B763C-F0C1-0FAE-8CA2-EF5A67BE5AAB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4C3900C-5E3A-B2C7-EE6D-42CD7027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2016" y="1034247"/>
            <a:ext cx="4445336" cy="3815153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B846F68-B842-7000-FD3E-0B03077385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64391" y="1498897"/>
            <a:ext cx="4560625" cy="3814648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3DE2B90-80DF-40B2-F051-F60D79BC87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64390" y="2049262"/>
            <a:ext cx="4229323" cy="4202038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66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7CD5-4BAB-315D-5588-B5A563A4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06B93F4-265E-D3D7-BA2A-1D38F32C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65617" y="618065"/>
            <a:ext cx="3947410" cy="3947410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C3D907-375C-E7EF-5ED5-E32967ABA084}"/>
              </a:ext>
            </a:extLst>
          </p:cNvPr>
          <p:cNvSpPr txBox="1"/>
          <p:nvPr/>
        </p:nvSpPr>
        <p:spPr>
          <a:xfrm>
            <a:off x="528899" y="2174224"/>
            <a:ext cx="55671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para coleta de dados 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publica para envio da telemetria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Dashboard técnico com todos os ofensores detalhados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 Web de nível executivo com comparativos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mobile para visualização rápida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0B9A1A6-664E-FB0B-18B3-AEB5A55F3A08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O que será entregue?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BA002F3-56E8-660F-A8C2-DCF89666FC65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40187E0-484D-6555-998C-A0C11CC22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2016" y="1034247"/>
            <a:ext cx="4445336" cy="3815153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5190FC0-A558-4881-49CF-E85B92A87A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64391" y="1498897"/>
            <a:ext cx="4560625" cy="3814648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25F9AAF-6168-3497-766F-28B8FECA14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64390" y="2049262"/>
            <a:ext cx="4229323" cy="4202038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9A729CB-6ACD-EF2B-5594-3DFD9CAF84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33014" y="2464456"/>
            <a:ext cx="4156029" cy="4202038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305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50FE-C7BE-E0B9-C188-550867EC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58A139D-ACAE-999F-74E0-F007E7F224F4}"/>
              </a:ext>
            </a:extLst>
          </p:cNvPr>
          <p:cNvSpPr/>
          <p:nvPr/>
        </p:nvSpPr>
        <p:spPr>
          <a:xfrm>
            <a:off x="752763" y="1219198"/>
            <a:ext cx="10871200" cy="5338619"/>
          </a:xfrm>
          <a:prstGeom prst="roundRect">
            <a:avLst>
              <a:gd name="adj" fmla="val 282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C64D68-0188-4E6E-7A24-6F2657E0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466" y="707079"/>
            <a:ext cx="3492483" cy="408358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Como vamos fazer isso acontecer?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670073A-026E-EF5C-93B1-98D5DCF0662D}"/>
              </a:ext>
            </a:extLst>
          </p:cNvPr>
          <p:cNvSpPr/>
          <p:nvPr/>
        </p:nvSpPr>
        <p:spPr>
          <a:xfrm>
            <a:off x="2033850" y="676804"/>
            <a:ext cx="3800476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BC14FD-E89A-7FFA-EC20-AFFC0D2A9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39121" y="1303047"/>
            <a:ext cx="9313756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0819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4CC20-258A-6F72-119D-3A7F7513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AC3F0-620E-7EFB-173E-2989B282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67" y="1335729"/>
            <a:ext cx="3485316" cy="40835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O que destaca o projeto?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52D382C-2A3F-1B38-B083-6810843CEED1}"/>
              </a:ext>
            </a:extLst>
          </p:cNvPr>
          <p:cNvSpPr/>
          <p:nvPr/>
        </p:nvSpPr>
        <p:spPr>
          <a:xfrm>
            <a:off x="547949" y="1305454"/>
            <a:ext cx="378142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CE5DED-1E82-43F6-D256-65CD13A976BF}"/>
              </a:ext>
            </a:extLst>
          </p:cNvPr>
          <p:cNvSpPr txBox="1"/>
          <p:nvPr/>
        </p:nvSpPr>
        <p:spPr>
          <a:xfrm>
            <a:off x="547949" y="1901825"/>
            <a:ext cx="6929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Correlação entre padrão energético e comportamento de IDR.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Classificação automática: baixo, médio e alto risco.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Alerta antes do cliente medir o IDR prevenindo crise operacional.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Pontuação de 0 a 100 considerando corrente, CPU e temperatura.</a:t>
            </a:r>
          </a:p>
          <a:p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Detecção de dispositivos com comportamento anormal.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Dispõe de benefícios OPS como: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Redução de RMA.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Melhoria de SLA e NPS.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Diferencial competitivo em RFP.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D82257E-9263-33AF-1D85-F0E91334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7125" y="1624012"/>
            <a:ext cx="3781425" cy="3781425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814291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9016-4F4E-E8CB-736C-38C05186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19879B9-99DE-F9F7-79A1-81F22585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03363" y="1720883"/>
            <a:ext cx="6785549" cy="3710846"/>
          </a:xfrm>
          <a:prstGeom prst="rect">
            <a:avLst/>
          </a:prstGeom>
          <a:ln>
            <a:noFill/>
          </a:ln>
          <a:effectLst>
            <a:glow rad="101600">
              <a:srgbClr val="FFD20B">
                <a:alpha val="60000"/>
              </a:srgb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B0B74B0-450B-8AF7-3D62-9BA82FF7CAD3}"/>
              </a:ext>
            </a:extLst>
          </p:cNvPr>
          <p:cNvSpPr txBox="1"/>
          <p:nvPr/>
        </p:nvSpPr>
        <p:spPr>
          <a:xfrm>
            <a:off x="528899" y="2174224"/>
            <a:ext cx="55671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GPOS730 Stone: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piloto: 5.000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IDR atual: 2,2% (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bench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1,7%).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Redução conservadora: 0,5 </a:t>
            </a:r>
            <a:r>
              <a:rPr lang="pt-BR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p.p</a:t>
            </a: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Economia estimada: ~R$ 420 mil/ano.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Proteção de receita e reputação.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8CA18C2-7C0D-5607-CF13-195F2EABD563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Qual o impacto financeiro?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66EEB7C-4A39-8363-AF5B-2526BE69A917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484167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0BEA-E055-C481-2F72-1E4954E1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A7602-8F8C-4968-73E9-14C64B43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474" y="707079"/>
            <a:ext cx="7629525" cy="40835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MS Reference Sans Serif" panose="020B0604030504040204" pitchFamily="34" charset="0"/>
              </a:rPr>
              <a:t>http://nexus.gertecti.com.br:9000/batteryData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549CD1E-C408-5FE7-8A20-AA594591F4A0}"/>
              </a:ext>
            </a:extLst>
          </p:cNvPr>
          <p:cNvSpPr/>
          <p:nvPr/>
        </p:nvSpPr>
        <p:spPr>
          <a:xfrm>
            <a:off x="2033850" y="676804"/>
            <a:ext cx="9396150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EB1123-512B-40CF-88C3-2EE86C5E1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" b="32356"/>
          <a:stretch>
            <a:fillRect/>
          </a:stretch>
        </p:blipFill>
        <p:spPr>
          <a:xfrm>
            <a:off x="487661" y="1435857"/>
            <a:ext cx="11216678" cy="50506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4D7CE6C-841D-1EC1-EA16-0A4AF320526B}"/>
              </a:ext>
            </a:extLst>
          </p:cNvPr>
          <p:cNvSpPr txBox="1">
            <a:spLocks/>
          </p:cNvSpPr>
          <p:nvPr/>
        </p:nvSpPr>
        <p:spPr>
          <a:xfrm>
            <a:off x="2133600" y="707079"/>
            <a:ext cx="1933575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Saiba mais em:</a:t>
            </a:r>
            <a:endParaRPr lang="pt-BR" dirty="0"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5861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678C-6E63-3D33-5B0A-D75C7DB8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C0A9C928-66B5-4ED3-BEDE-B2F4077C308A}"/>
              </a:ext>
            </a:extLst>
          </p:cNvPr>
          <p:cNvSpPr txBox="1">
            <a:spLocks/>
          </p:cNvSpPr>
          <p:nvPr/>
        </p:nvSpPr>
        <p:spPr>
          <a:xfrm>
            <a:off x="698516" y="1516704"/>
            <a:ext cx="3630857" cy="408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The </a:t>
            </a:r>
            <a:r>
              <a:rPr lang="pt-BR" dirty="0" err="1"/>
              <a:t>ArgoCoders</a:t>
            </a:r>
            <a:r>
              <a:rPr lang="pt-BR" dirty="0"/>
              <a:t> Team</a:t>
            </a:r>
            <a:endParaRPr lang="pt-BR" dirty="0">
              <a:latin typeface="MS Reference Sans Serif" panose="020B060403050404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C84D737-4B62-55C3-4154-8BB9A44C0D63}"/>
              </a:ext>
            </a:extLst>
          </p:cNvPr>
          <p:cNvSpPr/>
          <p:nvPr/>
        </p:nvSpPr>
        <p:spPr>
          <a:xfrm>
            <a:off x="528899" y="1486429"/>
            <a:ext cx="3800475" cy="438633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D2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C19CFA-C077-C899-CA13-536C0BFBA708}"/>
              </a:ext>
            </a:extLst>
          </p:cNvPr>
          <p:cNvSpPr txBox="1"/>
          <p:nvPr/>
        </p:nvSpPr>
        <p:spPr>
          <a:xfrm>
            <a:off x="1988669" y="4596809"/>
            <a:ext cx="1111767" cy="369332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srgbClr val="FFD20B">
                <a:alpha val="20000"/>
              </a:srgb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82828"/>
                </a:solidFill>
              </a:defRPr>
            </a:pPr>
            <a:r>
              <a:rPr lang="pt-BR" dirty="0">
                <a:solidFill>
                  <a:srgbClr val="FCFCFC"/>
                </a:solidFill>
              </a:rPr>
              <a:t>Erick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28480DA-BC8D-D323-E049-318E9D64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50" y="2509459"/>
            <a:ext cx="1704091" cy="1753397"/>
          </a:xfrm>
          <a:prstGeom prst="ellipse">
            <a:avLst/>
          </a:prstGeom>
          <a:ln w="63500" cap="rnd">
            <a:solidFill>
              <a:srgbClr val="FFD20B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9F5B5F-DE73-0246-DA34-9E3E9BCE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23" y="2528778"/>
            <a:ext cx="1681831" cy="1753397"/>
          </a:xfrm>
          <a:prstGeom prst="ellipse">
            <a:avLst/>
          </a:prstGeom>
          <a:ln w="63500" cap="rnd">
            <a:solidFill>
              <a:srgbClr val="FFD20B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8BA646A-50CB-5EB3-CF13-3B554FF90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637" y="2528778"/>
            <a:ext cx="1681830" cy="1784252"/>
          </a:xfrm>
          <a:prstGeom prst="ellipse">
            <a:avLst/>
          </a:prstGeom>
          <a:ln w="63500" cap="rnd">
            <a:solidFill>
              <a:srgbClr val="FFD20B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231DBD8-5C9D-A07D-3FA4-61E5ADF02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129" y="2575824"/>
            <a:ext cx="1581496" cy="1706351"/>
          </a:xfrm>
          <a:prstGeom prst="ellipse">
            <a:avLst/>
          </a:prstGeom>
          <a:ln w="63500" cap="rnd">
            <a:solidFill>
              <a:srgbClr val="FFD20B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85DA67-16E4-65D6-ED7C-4C36544A1C60}"/>
              </a:ext>
            </a:extLst>
          </p:cNvPr>
          <p:cNvSpPr txBox="1"/>
          <p:nvPr/>
        </p:nvSpPr>
        <p:spPr>
          <a:xfrm>
            <a:off x="4301993" y="4596809"/>
            <a:ext cx="1316001" cy="369332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srgbClr val="FFD20B">
                <a:alpha val="20000"/>
              </a:srgb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82828"/>
                </a:solidFill>
              </a:defRPr>
            </a:pPr>
            <a:r>
              <a:rPr lang="pt-BR" dirty="0">
                <a:solidFill>
                  <a:srgbClr val="FCFCFC"/>
                </a:solidFill>
              </a:rPr>
              <a:t>Nicolas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36F0794-8B6F-963F-7B13-A8658CB5BAF5}"/>
              </a:ext>
            </a:extLst>
          </p:cNvPr>
          <p:cNvSpPr txBox="1"/>
          <p:nvPr/>
        </p:nvSpPr>
        <p:spPr>
          <a:xfrm>
            <a:off x="9132876" y="4528251"/>
            <a:ext cx="1316001" cy="369332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srgbClr val="FFD20B">
                <a:alpha val="20000"/>
              </a:srgb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82828"/>
                </a:solidFill>
              </a:defRPr>
            </a:pPr>
            <a:r>
              <a:rPr lang="pt-BR" dirty="0">
                <a:solidFill>
                  <a:srgbClr val="FCFCFC"/>
                </a:solidFill>
              </a:rPr>
              <a:t>Thales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ACA26F-C465-2239-1CAF-038E6E6AA16E}"/>
              </a:ext>
            </a:extLst>
          </p:cNvPr>
          <p:cNvSpPr txBox="1"/>
          <p:nvPr/>
        </p:nvSpPr>
        <p:spPr>
          <a:xfrm>
            <a:off x="6763737" y="4596809"/>
            <a:ext cx="1316001" cy="369332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srgbClr val="FFD20B">
                <a:alpha val="20000"/>
              </a:srgb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CFCFC"/>
                </a:solidFill>
              </a:rPr>
              <a:t>Willian</a:t>
            </a:r>
          </a:p>
        </p:txBody>
      </p:sp>
    </p:spTree>
    <p:extLst>
      <p:ext uri="{BB962C8B-B14F-4D97-AF65-F5344CB8AC3E}">
        <p14:creationId xmlns:p14="http://schemas.microsoft.com/office/powerpoint/2010/main" val="54655945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07EA476B-1C9F-C908-6E57-2E1A73BE2967}"/>
              </a:ext>
            </a:extLst>
          </p:cNvPr>
          <p:cNvSpPr/>
          <p:nvPr/>
        </p:nvSpPr>
        <p:spPr>
          <a:xfrm>
            <a:off x="10613156" y="211276"/>
            <a:ext cx="1217594" cy="12691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2772E2D-72F4-0CA1-E612-1DEFD4F4A6A1}"/>
              </a:ext>
            </a:extLst>
          </p:cNvPr>
          <p:cNvSpPr txBox="1">
            <a:spLocks/>
          </p:cNvSpPr>
          <p:nvPr/>
        </p:nvSpPr>
        <p:spPr>
          <a:xfrm>
            <a:off x="3694896" y="4292133"/>
            <a:ext cx="4802207" cy="119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Outfit" pitchFamily="2" charset="0"/>
                <a:ea typeface="+mj-ea"/>
                <a:cs typeface="+mj-cs"/>
              </a:defRPr>
            </a:lvl1pPr>
          </a:lstStyle>
          <a:p>
            <a:r>
              <a:rPr lang="pt-BR" b="1" dirty="0"/>
              <a:t>Obrigado por participar!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B752B0-CA58-F92F-FDA5-85279FDFC291}"/>
              </a:ext>
            </a:extLst>
          </p:cNvPr>
          <p:cNvSpPr txBox="1"/>
          <p:nvPr/>
        </p:nvSpPr>
        <p:spPr>
          <a:xfrm>
            <a:off x="361250" y="211276"/>
            <a:ext cx="6098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 err="1">
                <a:solidFill>
                  <a:schemeClr val="bg1"/>
                </a:solidFill>
              </a:rPr>
              <a:t>ArgoEnergy</a:t>
            </a:r>
            <a:br>
              <a:rPr lang="pt-BR" sz="1600" dirty="0">
                <a:solidFill>
                  <a:schemeClr val="bg1"/>
                </a:solidFill>
              </a:rPr>
            </a:br>
            <a:r>
              <a:rPr lang="pt-BR" sz="1600" dirty="0">
                <a:solidFill>
                  <a:schemeClr val="bg1"/>
                </a:solidFill>
              </a:rPr>
              <a:t>Plataforma de Inteligência Energética</a:t>
            </a:r>
          </a:p>
        </p:txBody>
      </p:sp>
      <p:pic>
        <p:nvPicPr>
          <p:cNvPr id="1026" name="Picture 2" descr="ícone de Grafana logo">
            <a:hlinkClick r:id="rId2"/>
            <a:extLst>
              <a:ext uri="{FF2B5EF4-FFF2-40B4-BE49-F238E27FC236}">
                <a16:creationId xmlns:a16="http://schemas.microsoft.com/office/drawing/2014/main" id="{9DA97B8F-5F3C-7C5A-C0A2-0634E9DF2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3720" y="426672"/>
            <a:ext cx="884343" cy="88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4053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Cap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lide de conteúdo_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lide de conteúdo_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Slide de conteúdo_3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Slide de conteúdo_4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Slide de conteúdo_5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Encerrament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2675</TotalTime>
  <Words>430</Words>
  <Application>Microsoft Office PowerPoint</Application>
  <PresentationFormat>Widescreen</PresentationFormat>
  <Paragraphs>98</Paragraphs>
  <Slides>14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14</vt:i4>
      </vt:variant>
    </vt:vector>
  </HeadingPairs>
  <TitlesOfParts>
    <vt:vector size="25" baseType="lpstr">
      <vt:lpstr>Outfit</vt:lpstr>
      <vt:lpstr>Arial</vt:lpstr>
      <vt:lpstr>Calibri</vt:lpstr>
      <vt:lpstr>MS Reference Sans Serif</vt:lpstr>
      <vt:lpstr>Capa</vt:lpstr>
      <vt:lpstr>Slide de conteúdo_1</vt:lpstr>
      <vt:lpstr>Slide de conteúdo_2</vt:lpstr>
      <vt:lpstr>Slide de conteúdo_3</vt:lpstr>
      <vt:lpstr>Slide de conteúdo_4</vt:lpstr>
      <vt:lpstr>Slide de conteúdo_5</vt:lpstr>
      <vt:lpstr>Encerramento</vt:lpstr>
      <vt:lpstr>ArgoEnergy</vt:lpstr>
      <vt:lpstr>O que nos motivou a criar isso?</vt:lpstr>
      <vt:lpstr>O que estamos construindo?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Como vamos fazer isso acontecer?</vt:lpstr>
      <vt:lpstr>O que destaca o projeto?</vt:lpstr>
      <vt:lpstr>Apresentação do PowerPoint</vt:lpstr>
      <vt:lpstr>http://nexus.gertecti.com.br:9000/batteryData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Erick de Almeida Calegaro</cp:lastModifiedBy>
  <cp:revision>25</cp:revision>
  <dcterms:created xsi:type="dcterms:W3CDTF">2024-02-27T15:11:41Z</dcterms:created>
  <dcterms:modified xsi:type="dcterms:W3CDTF">2026-03-14T14:44:21Z</dcterms:modified>
</cp:coreProperties>
</file>